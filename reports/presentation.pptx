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8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1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9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54361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Mining Laptop Market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2066924"/>
            <a:ext cx="6248243" cy="819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95"/>
              </a:lnSpc>
              <a:spcBef>
                <a:spcPts val="0"/>
              </a:spcBef>
              <a:spcAft>
                <a:spcPts val="208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From Raw Data to Actionable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33147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179" y="3200400"/>
            <a:ext cx="34955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15,500+ Laptop Listings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79" y="3581400"/>
            <a:ext cx="34955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Algerian marketplace (Ouedkniss, 2021-2025)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41909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179" y="4076699"/>
            <a:ext cx="373370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Interactive Web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79" y="4457700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Predicts fair prices + recommends similar laptops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50672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79" y="4952999"/>
            <a:ext cx="338129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Robust Data Mining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79" y="5334000"/>
            <a:ext cx="33812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Transformation · Cleaning · Insight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67513" y="1447800"/>
            <a:ext cx="1962100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67513" y="1447800"/>
            <a:ext cx="1962100" cy="4762500"/>
          </a:xfrm>
          <a:prstGeom prst="roundRect">
            <a:avLst>
              <a:gd name="adj" fmla="val 15533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05672" y="3073513"/>
            <a:ext cx="685782" cy="5204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86562" y="3829050"/>
            <a:ext cx="192400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780"/>
              </a:spcAft>
            </a:pPr>
            <a:r>
              <a:rPr sz="2870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15,500+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6562" y="4400550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Listings Mined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54361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Business Problem &amp;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201929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The Market Challenge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2861"/>
            <a:ext cx="304792" cy="216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2590799"/>
            <a:ext cx="34289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Fragmented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773" y="2895600"/>
            <a:ext cx="34289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No standardized laptop listings on Ouedkniss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" y="3382107"/>
            <a:ext cx="304792" cy="246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3314700"/>
            <a:ext cx="34574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Price Opacity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73" y="3619499"/>
            <a:ext cx="34574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Sellers set arbitrary prices with no benchmark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410014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6773" y="4038599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Information Asymmetry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773" y="4343400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Buyers cannot assess fair value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09584" y="4824046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773" y="4762500"/>
            <a:ext cx="31241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Spec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73" y="5067299"/>
            <a:ext cx="31241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3,000+ CPU models, inconsistent naming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432" y="1924049"/>
            <a:ext cx="487667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Our Solution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432" y="2495550"/>
            <a:ext cx="4876678" cy="876299"/>
          </a:xfrm>
          <a:prstGeom prst="roundRect">
            <a:avLst>
              <a:gd name="adj" fmla="val 1739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57828" y="2721219"/>
            <a:ext cx="304792" cy="2344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017" y="2647949"/>
            <a:ext cx="30860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Intelligent Price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017" y="2952750"/>
            <a:ext cx="30860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User specs → Predicted fair market price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05432" y="3524250"/>
            <a:ext cx="4876678" cy="876299"/>
          </a:xfrm>
          <a:prstGeom prst="roundRect">
            <a:avLst>
              <a:gd name="adj" fmla="val 1739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57828" y="3738196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017" y="3676649"/>
            <a:ext cx="33622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Recommendation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017" y="3981449"/>
            <a:ext cx="33622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Similar laptops from Ouedkniss and Amazon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5432" y="4552949"/>
            <a:ext cx="4876678" cy="876299"/>
          </a:xfrm>
          <a:prstGeom prst="roundRect">
            <a:avLst>
              <a:gd name="adj" fmla="val 1739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857828" y="4766896"/>
            <a:ext cx="304792" cy="2579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017" y="4705350"/>
            <a:ext cx="36479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Data-Driven 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017" y="5010149"/>
            <a:ext cx="36479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Bridges informal market with structured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66292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Dataset Overview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895350"/>
            <a:ext cx="64006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Raw Data Characteristics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352549"/>
            <a:ext cx="3124121" cy="952499"/>
          </a:xfrm>
          <a:prstGeom prst="roundRect">
            <a:avLst>
              <a:gd name="adj" fmla="val 16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1504950"/>
            <a:ext cx="281932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15,517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924049"/>
            <a:ext cx="28193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Listings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102" y="1352549"/>
            <a:ext cx="3124121" cy="952499"/>
          </a:xfrm>
          <a:prstGeom prst="roundRect">
            <a:avLst>
              <a:gd name="adj" fmla="val 16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499" y="1504950"/>
            <a:ext cx="281932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499" y="1924049"/>
            <a:ext cx="28193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Attributes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2457450"/>
            <a:ext cx="64006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Source: Ouedkniss (2021-2025)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2952750"/>
            <a:ext cx="640063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Data Quality Crisis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409950"/>
            <a:ext cx="3143171" cy="990599"/>
          </a:xfrm>
          <a:prstGeom prst="roundRect">
            <a:avLst>
              <a:gd name="adj" fmla="val 769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881" y="352425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CPU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1" y="3790949"/>
            <a:ext cx="29145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~500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1" y="4095749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unmatched variations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053" y="3409950"/>
            <a:ext cx="3143171" cy="990599"/>
          </a:xfrm>
          <a:prstGeom prst="roundRect">
            <a:avLst>
              <a:gd name="adj" fmla="val 769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1350" y="352425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GPU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1350" y="3790949"/>
            <a:ext cx="29145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Massive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1350" y="4095749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nulls (integrated)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4514850"/>
            <a:ext cx="3143171" cy="990599"/>
          </a:xfrm>
          <a:prstGeom prst="roundRect">
            <a:avLst>
              <a:gd name="adj" fmla="val 769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881" y="462915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RAM Size/Type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881" y="4895849"/>
            <a:ext cx="29145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20+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81" y="5200650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nulls requiring inference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67053" y="4514850"/>
            <a:ext cx="3143171" cy="990599"/>
          </a:xfrm>
          <a:prstGeom prst="roundRect">
            <a:avLst>
              <a:gd name="adj" fmla="val 769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1350" y="462915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Screen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1350" y="4895849"/>
            <a:ext cx="29145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1,546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1350" y="5200650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nulls (10% of dataset)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5619750"/>
            <a:ext cx="3143171" cy="990599"/>
          </a:xfrm>
          <a:prstGeom prst="roundRect">
            <a:avLst>
              <a:gd name="adj" fmla="val 769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881" y="573405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Condition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881" y="6000750"/>
            <a:ext cx="29145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1" y="6305550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missing values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67053" y="5619750"/>
            <a:ext cx="3143171" cy="990599"/>
          </a:xfrm>
          <a:prstGeom prst="roundRect">
            <a:avLst>
              <a:gd name="adj" fmla="val 769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81350" y="5734050"/>
            <a:ext cx="29145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1350" y="6000750"/>
            <a:ext cx="29145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Outliers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81350" y="6305550"/>
            <a:ext cx="29145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75,000,000 DZD typos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6838949"/>
            <a:ext cx="6400639" cy="838200"/>
          </a:xfrm>
          <a:prstGeom prst="roundRect">
            <a:avLst>
              <a:gd name="adj" fmla="val 18181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1980" y="7049742"/>
            <a:ext cx="266693" cy="2261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42971" y="6991350"/>
            <a:ext cx="55815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Root Cause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2971" y="7258050"/>
            <a:ext cx="55815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Sellers write free-text descriptions; scraped data is semi-structured chaos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205" y="205740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Missing Value 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205" y="2476499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Condition (spec_Etat)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29714" y="2476499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40%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205" y="2781300"/>
            <a:ext cx="3962300" cy="76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72205" y="2781300"/>
            <a:ext cx="1581110" cy="76200"/>
          </a:xfrm>
          <a:prstGeom prst="roundRect">
            <a:avLst>
              <a:gd name="adj" fmla="val 10000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205" y="2971800"/>
            <a:ext cx="7905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Screen Size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29714" y="2971800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205" y="3276599"/>
            <a:ext cx="3962300" cy="76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72205" y="3276599"/>
            <a:ext cx="400039" cy="76200"/>
          </a:xfrm>
          <a:prstGeom prst="roundRect">
            <a:avLst>
              <a:gd name="adj" fmla="val 1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205" y="3467100"/>
            <a:ext cx="8096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CPU Names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29714" y="3467100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~3%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205" y="3771900"/>
            <a:ext cx="3962300" cy="76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72205" y="3771900"/>
            <a:ext cx="114297" cy="76200"/>
          </a:xfrm>
          <a:prstGeom prst="roundRect">
            <a:avLst>
              <a:gd name="adj" fmla="val 1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205" y="3962399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GPU Info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24941" y="3962399"/>
            <a:ext cx="4095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~65%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205" y="4267199"/>
            <a:ext cx="3962300" cy="76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772205" y="4267199"/>
            <a:ext cx="2571685" cy="76200"/>
          </a:xfrm>
          <a:prstGeom prst="roundRect">
            <a:avLst>
              <a:gd name="adj" fmla="val 1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72205" y="4572000"/>
            <a:ext cx="3962300" cy="1943100"/>
          </a:xfrm>
          <a:prstGeom prst="roundRect">
            <a:avLst>
              <a:gd name="adj" fmla="val 7843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62700" y="4762500"/>
            <a:ext cx="35813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Messy Raw Data Samples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62700" y="5143500"/>
            <a:ext cx="358131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38899" y="5219700"/>
            <a:ext cx="34289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CPU: "11TH GEN INTEL CORE I7 11800H"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62700" y="5562600"/>
            <a:ext cx="358131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38899" y="5638799"/>
            <a:ext cx="34289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RAM: "16 GB DDR4" | "16Go" | "512MB"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62700" y="5981699"/>
            <a:ext cx="358131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38899" y="6057900"/>
            <a:ext cx="34289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Price: 75,000,000 | 50.0 | 123456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80007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Phase 1 – CPU &amp; GPU Standardization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43000"/>
            <a:ext cx="6476838" cy="876299"/>
          </a:xfrm>
          <a:prstGeom prst="roundRect">
            <a:avLst>
              <a:gd name="adj" fmla="val 17391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37475" y="1515109"/>
            <a:ext cx="876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79" y="1295399"/>
            <a:ext cx="61339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Challenge: Match 3,000+ informal names to PassMark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1638299"/>
            <a:ext cx="61339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Sellers use free-text; benchmark database is 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209800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Real Example Transformation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590799"/>
            <a:ext cx="6476838" cy="1943100"/>
          </a:xfrm>
          <a:prstGeom prst="roundRect">
            <a:avLst>
              <a:gd name="adj" fmla="val 784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1980" y="2743200"/>
            <a:ext cx="2838379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278" y="2857500"/>
            <a:ext cx="26097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Raw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78" y="3086100"/>
            <a:ext cx="260978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"11TH GEN INTEL CORE I7 11800H"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714657" y="3104735"/>
            <a:ext cx="266693" cy="1913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095647" y="2743200"/>
            <a:ext cx="2838379" cy="914400"/>
          </a:xfrm>
          <a:prstGeom prst="roundRect">
            <a:avLst>
              <a:gd name="adj" fmla="val 8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9944" y="2857500"/>
            <a:ext cx="26097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PassMark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9944" y="3086100"/>
            <a:ext cx="260978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Intel Core i7-11800H @ 2.30GHz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0" y="3771900"/>
            <a:ext cx="1485862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179" y="3848099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cpu_mark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403859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22,108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4041" y="3771900"/>
            <a:ext cx="1485862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0239" y="3848099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0239" y="403859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102" y="3771900"/>
            <a:ext cx="1485862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2300" y="3848099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tdp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300" y="403859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45W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8163" y="3771900"/>
            <a:ext cx="1485862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24361" y="3848099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gen_norm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361" y="4038599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" y="4686300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Multi-Stage Fuzzy Matching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5067299"/>
            <a:ext cx="1238219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782" y="51435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1. Normalization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782" y="533400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Lowercase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4001" y="5067299"/>
            <a:ext cx="1238219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00199" y="51435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2. Direct Lookup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00199" y="533400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28894" y="5067299"/>
            <a:ext cx="1238219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05092" y="51435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3. RapidFuzz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5092" y="533400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60%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43311" y="5067299"/>
            <a:ext cx="1238219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9509" y="51435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4. Manual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9509" y="533400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48203" y="5067299"/>
            <a:ext cx="1238219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4401" y="51435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5. Domain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4401" y="533400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Rules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584" y="5829300"/>
            <a:ext cx="647683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881" y="5943600"/>
            <a:ext cx="19335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Results: 98.7% Match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881" y="6210299"/>
            <a:ext cx="19335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From initially chaotic CPU names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29234" y="6027354"/>
            <a:ext cx="342891" cy="28969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772205" y="1581149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Handling Integrated GPUs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205" y="1962149"/>
            <a:ext cx="3962300" cy="876299"/>
          </a:xfrm>
          <a:prstGeom prst="roundRect">
            <a:avLst>
              <a:gd name="adj" fmla="val 8695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86502" y="2097881"/>
            <a:ext cx="228594" cy="18573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191295" y="2076449"/>
            <a:ext cx="34289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Problem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295" y="2343150"/>
            <a:ext cx="342891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Most laptops lack dedicated GPUs; sellers never mention integrated graphics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205" y="2952750"/>
            <a:ext cx="3962300" cy="876299"/>
          </a:xfrm>
          <a:prstGeom prst="roundRect">
            <a:avLst>
              <a:gd name="adj" fmla="val 869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86502" y="3071336"/>
            <a:ext cx="228594" cy="2200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191295" y="3067050"/>
            <a:ext cx="34289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Solution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1295" y="3333749"/>
            <a:ext cx="342891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Extended CPU reference dataset with integrated_gpu_name column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205" y="3943350"/>
            <a:ext cx="3962300" cy="876299"/>
          </a:xfrm>
          <a:prstGeom prst="roundRect">
            <a:avLst>
              <a:gd name="adj" fmla="val 869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86502" y="4089082"/>
            <a:ext cx="228594" cy="16573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191295" y="4057650"/>
            <a:ext cx="34289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Process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1295" y="4324349"/>
            <a:ext cx="342891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CPUs mapped → Integrated GPU inferred → Benchmarks retrieved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205" y="5010149"/>
            <a:ext cx="3962300" cy="1066799"/>
          </a:xfrm>
          <a:prstGeom prst="roundRect">
            <a:avLst>
              <a:gd name="adj" fmla="val 14285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943651" y="5214937"/>
            <a:ext cx="266693" cy="20002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286542" y="518159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Innovation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43651" y="5524499"/>
            <a:ext cx="361940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Threshold: 85% similarity for RapidFuzz matching ensures precision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48626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Phase 2 – RAM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714500"/>
            <a:ext cx="6476838" cy="761999"/>
          </a:xfrm>
          <a:prstGeom prst="roundRect">
            <a:avLst>
              <a:gd name="adj" fmla="val 20000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94625" y="20294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1828800"/>
            <a:ext cx="62101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Challenge: Parse inconsistent strings + fill nulls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133599"/>
            <a:ext cx="62101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20+ nulls requiring intelligent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628900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RAM Size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009900"/>
            <a:ext cx="3200319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82" y="3105149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"16GB"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62120" y="3149413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18" y="3086100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16.0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102" y="3009900"/>
            <a:ext cx="3200319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2300" y="3105149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"16 GB DDR4"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714857" y="3149413"/>
            <a:ext cx="190495" cy="1400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53036" y="3086100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16.0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505199"/>
            <a:ext cx="3200319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782" y="3600450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"16Go"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62120" y="364471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76518" y="3581400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16.0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102" y="3505199"/>
            <a:ext cx="3200319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2300" y="3600450"/>
            <a:ext cx="638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Code Pro"/>
                <a:rFonts ascii="Source Code Pro" hAnsi="Source Code Pro" eastAsia="Source Code Pro" cs="Source Code Pro"/>
              </a:rPr>
              <a:t>"512MB"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543411" y="3644713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7333" y="3581400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4" y="4076699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RAM Type Ordinal Encoding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45770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782" y="45339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DDR5/LPDDR5X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82" y="472439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4.2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4001" y="445770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00199" y="45339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DDR4/LPDDR4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0199" y="472439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8894" y="445770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5092" y="45339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DDR3/LPDDR3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5092" y="472439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43311" y="445770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9509" y="45339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DDR2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9509" y="472439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1.5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8203" y="445770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24401" y="4533900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SDRAM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4401" y="472439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" y="5257800"/>
            <a:ext cx="647683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881" y="5372100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Results: 100% RAM Coverage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881" y="5638799"/>
            <a:ext cx="20763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Using hardware domain knowledge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3" y="5471746"/>
            <a:ext cx="304792" cy="2579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772205" y="1238249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Intelligent RAM Imputation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205" y="1619250"/>
            <a:ext cx="3962300" cy="990599"/>
          </a:xfrm>
          <a:prstGeom prst="roundRect">
            <a:avLst>
              <a:gd name="adj" fmla="val 7692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86502" y="1733550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DDR-per-CPU 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6502" y="1962149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Intel 12th Gen+ → DDR5/DDR4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2405" y="1962149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Apple M3/M4 → LPDDR5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6502" y="2152650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Intel 8th-11th → DDR4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2405" y="2152650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Apple M1/M2 → LPDDR4X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6502" y="2343150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Intel 3rd-7th → DDR3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72405" y="2343150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AMD Ryzen 5000+ → DDR4/DDR5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205" y="2686050"/>
            <a:ext cx="3962300" cy="1219200"/>
          </a:xfrm>
          <a:prstGeom prst="roundRect">
            <a:avLst>
              <a:gd name="adj" fmla="val 625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86502" y="2800350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Smart Size Assignment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6502" y="3067050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High-end (i7/i9, Ryzen 7/9)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7773" y="3067050"/>
            <a:ext cx="5524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16-32 GB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6502" y="3257550"/>
            <a:ext cx="10477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Mid-tier (i5, Ryzen 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43971" y="3257550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8-16 GB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6502" y="3448049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Entry (i3, Pentium, Celeron)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10644" y="3448049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4-8 GB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6502" y="3638550"/>
            <a:ext cx="93342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Legacy (pre-2015)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10644" y="3638550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2-4 GB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205" y="4057650"/>
            <a:ext cx="3962300" cy="2362199"/>
          </a:xfrm>
          <a:prstGeom prst="roundRect">
            <a:avLst>
              <a:gd name="adj" fmla="val 6451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24601" y="4239039"/>
            <a:ext cx="266693" cy="208721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267493" y="4210049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Scoring Algorithm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24601" y="4552949"/>
            <a:ext cx="3657508" cy="533399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0799" y="4629150"/>
            <a:ext cx="350511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Score = CPU_Mark_Percentile + Generation_Score + Brand_Factor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4601" y="5162550"/>
            <a:ext cx="36575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Examples: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24601" y="5353049"/>
            <a:ext cx="3657508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00799" y="5429250"/>
            <a:ext cx="7238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Apple M3 Max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96347" y="5429250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32GB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24601" y="5657850"/>
            <a:ext cx="3657508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00799" y="5734050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Intel i5-11th Gen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63020" y="5734050"/>
            <a:ext cx="3428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8GB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24601" y="5962650"/>
            <a:ext cx="3657508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00799" y="6038849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000000"/>
                </a:solidFill>
                <a:latin typeface="Roboto Flex"/>
                <a:rFonts ascii="Roboto Flex" hAnsi="Roboto Flex" eastAsia="Roboto Flex" cs="Roboto Flex"/>
              </a:rPr>
              <a:t>Intel Celeron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63020" y="6038849"/>
            <a:ext cx="3428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4GB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64006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Phase 3 – Storage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447800"/>
            <a:ext cx="6476838" cy="761999"/>
          </a:xfrm>
          <a:prstGeom prst="roundRect">
            <a:avLst>
              <a:gd name="adj" fmla="val 20000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94625" y="17627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1562100"/>
            <a:ext cx="62101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Challenge: Parse combined strings + fill nulls using CPU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866899"/>
            <a:ext cx="62101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Combined storage strings like "512GB SSD + 1TB HDD"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362199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Storage Size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2743200"/>
            <a:ext cx="6476838" cy="838200"/>
          </a:xfrm>
          <a:prstGeom prst="roundRect">
            <a:avLst>
              <a:gd name="adj" fmla="val 909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3881" y="2971800"/>
            <a:ext cx="4457588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79" y="3047999"/>
            <a:ext cx="43051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"512GB SSD + 1TB HDD"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295767" y="3079432"/>
            <a:ext cx="228594" cy="16573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38659" y="2857500"/>
            <a:ext cx="571485" cy="609600"/>
          </a:xfrm>
          <a:prstGeom prst="roundRect">
            <a:avLst>
              <a:gd name="adj" fmla="val 1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2956" y="2933699"/>
            <a:ext cx="3428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2956" y="3124200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342" y="2857500"/>
            <a:ext cx="685782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639" y="2933699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HDD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639" y="3124200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3657600"/>
            <a:ext cx="6476838" cy="761999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782" y="3848099"/>
            <a:ext cx="5295767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980" y="3924299"/>
            <a:ext cx="51433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"256Go SSD"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7" y="3955732"/>
            <a:ext cx="228594" cy="16573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38739" y="3733799"/>
            <a:ext cx="571485" cy="609600"/>
          </a:xfrm>
          <a:prstGeom prst="roundRect">
            <a:avLst>
              <a:gd name="adj" fmla="val 1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036" y="3809999"/>
            <a:ext cx="3428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36" y="4000500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256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495799"/>
            <a:ext cx="6476838" cy="761999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782" y="4686300"/>
            <a:ext cx="5181470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980" y="4762500"/>
            <a:ext cx="50290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"2TB"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981550" y="4793932"/>
            <a:ext cx="228594" cy="16573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324441" y="4572000"/>
            <a:ext cx="685782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8739" y="46482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39" y="48386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2048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" y="5410199"/>
            <a:ext cx="647683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881" y="5524499"/>
            <a:ext cx="29241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Results: All values normalized to GB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881" y="5791200"/>
            <a:ext cx="29241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Nulls filled with era-appropriate defaults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29234" y="5608254"/>
            <a:ext cx="342891" cy="28969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72205" y="89535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CPU-to-Storage 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205" y="1276350"/>
            <a:ext cx="3962300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6502" y="1390650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Intel 12th Gen+ / Apple M-series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6502" y="1619250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512GB SSD (no HDD)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205" y="2076449"/>
            <a:ext cx="3962300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86502" y="2190749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Intel 10th-11th 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6502" y="2419349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256-512GB SSD typical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205" y="2876549"/>
            <a:ext cx="3962300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86502" y="2990849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Intel 6th-9th Gen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6502" y="3219449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128-256GB SSD or 500GB HDD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205" y="3676649"/>
            <a:ext cx="3962300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86502" y="3790949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Intel 3rd-5th Gen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6502" y="4019549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500GB-1TB HDD primary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205" y="4476750"/>
            <a:ext cx="3962300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6502" y="4591050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Legacy (Pentium, Celeron &lt;2015)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6502" y="4819650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320GB-500GB HDD only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205" y="5391150"/>
            <a:ext cx="3962300" cy="1257300"/>
          </a:xfrm>
          <a:prstGeom prst="roundRect">
            <a:avLst>
              <a:gd name="adj" fmla="val 12121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43651" y="5582892"/>
            <a:ext cx="266693" cy="22611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542" y="5562600"/>
            <a:ext cx="9239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Rationale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43651" y="5905500"/>
            <a:ext cx="361940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Modern CPUs (post-2018) almost exclusively pair with SSDs; older laptops predominantly use HDDs. Hardware era knowledge enables intelligent imputation.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7148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Phase 4 – Screen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809749"/>
            <a:ext cx="6476838" cy="761999"/>
          </a:xfrm>
          <a:prstGeom prst="roundRect">
            <a:avLst>
              <a:gd name="adj" fmla="val 20000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94625" y="21247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1924049"/>
            <a:ext cx="62101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Challenge: Fill 1,546 missing screen sizes (10% of dataset)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228850"/>
            <a:ext cx="62101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Minor data entry errors like "15.5 inch" instead of 15.6"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2724150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Screen Size Snapping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105149"/>
            <a:ext cx="1238219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82" y="318135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11.6"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4001" y="3105149"/>
            <a:ext cx="1238219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0199" y="318135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13.3"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8894" y="3105149"/>
            <a:ext cx="1238219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5092" y="318135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14.0"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3311" y="3105149"/>
            <a:ext cx="1238219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9509" y="318135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15.6"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8203" y="3105149"/>
            <a:ext cx="1238219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4401" y="3181350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17.3"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" y="3638550"/>
            <a:ext cx="64768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All sizes snapped to standard laptop bins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" y="3981449"/>
            <a:ext cx="64768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Screen Resolution Encoding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436245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782" y="4438649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4K (3840×2160)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82" y="4629150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4001" y="436245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00199" y="4438649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QHD+ (2560×1440)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0199" y="4629150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8894" y="436245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5092" y="4438649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FHD (1920×1080)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5092" y="4629150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43311" y="436245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9509" y="4438649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HD+ (1600×900)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9509" y="4629150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48203" y="4362450"/>
            <a:ext cx="1238219" cy="647699"/>
          </a:xfrm>
          <a:prstGeom prst="roundRect">
            <a:avLst>
              <a:gd name="adj" fmla="val 1176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4401" y="4438649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HD (1366×768)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4401" y="4629150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9584" y="5162550"/>
            <a:ext cx="647683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881" y="527685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Results: 1,546 → 0 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881" y="5543550"/>
            <a:ext cx="18954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100% Recovery Rate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29234" y="5360604"/>
            <a:ext cx="342891" cy="28969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772205" y="142875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Missing Value Imputation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205" y="1809749"/>
            <a:ext cx="3962300" cy="685800"/>
          </a:xfrm>
          <a:prstGeom prst="roundRect">
            <a:avLst>
              <a:gd name="adj" fmla="val 1111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86502" y="1962149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Most laptops (generic)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96327" y="1924049"/>
            <a:ext cx="7238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15.6"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6502" y="2228850"/>
            <a:ext cx="37337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Market mode (most common)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205" y="2571750"/>
            <a:ext cx="3962300" cy="685800"/>
          </a:xfrm>
          <a:prstGeom prst="roundRect">
            <a:avLst>
              <a:gd name="adj" fmla="val 1111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6502" y="2724150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Ultrabooks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77198" y="2686050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13.3" / 14.0"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6502" y="2990849"/>
            <a:ext cx="37337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Thin and light category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205" y="3333749"/>
            <a:ext cx="3962300" cy="685800"/>
          </a:xfrm>
          <a:prstGeom prst="roundRect">
            <a:avLst>
              <a:gd name="adj" fmla="val 1111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86502" y="3486150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Gaming laptops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7198" y="3448049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15.6" / 17.3"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6502" y="3752849"/>
            <a:ext cx="37337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Performance-focused segment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205" y="4095749"/>
            <a:ext cx="3962300" cy="685800"/>
          </a:xfrm>
          <a:prstGeom prst="roundRect">
            <a:avLst>
              <a:gd name="adj" fmla="val 1111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86502" y="4248150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Apple MacBooks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8068" y="4210049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→ 13.3" / 14.0" / 16.0"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6502" y="4514850"/>
            <a:ext cx="37337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Brand-specific sizes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205" y="4972050"/>
            <a:ext cx="3962300" cy="1257300"/>
          </a:xfrm>
          <a:prstGeom prst="roundRect">
            <a:avLst>
              <a:gd name="adj" fmla="val 12121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43651" y="5176837"/>
            <a:ext cx="266693" cy="20002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286542" y="5143500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Insight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43651" y="5486400"/>
            <a:ext cx="361940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Mode-based imputation by model line ensures realistic screen size assignments while maintaining brand and category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107439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Phase 5 – Price Correction &amp; Condition Encoding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019299"/>
            <a:ext cx="5257668" cy="1028700"/>
          </a:xfrm>
          <a:prstGeom prst="roundRect">
            <a:avLst>
              <a:gd name="adj" fmla="val 14814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61274" y="2467609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2133599"/>
            <a:ext cx="499097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Challenge: Handle outliers, trolls, scale errors, 40% missing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705099"/>
            <a:ext cx="49909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Critical innovation: Price scale correction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0400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Troll Price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581400"/>
            <a:ext cx="2590735" cy="571500"/>
          </a:xfrm>
          <a:prstGeom prst="roundRect">
            <a:avLst>
              <a:gd name="adj" fmla="val 13333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782" y="3657600"/>
            <a:ext cx="24383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82" y="3848099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123, 1234, 12345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6518" y="3581400"/>
            <a:ext cx="2590735" cy="571500"/>
          </a:xfrm>
          <a:prstGeom prst="roundRect">
            <a:avLst>
              <a:gd name="adj" fmla="val 13333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716" y="3657600"/>
            <a:ext cx="24383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Repeated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716" y="3848099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1111, 22222, 333333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229100"/>
            <a:ext cx="2590735" cy="571500"/>
          </a:xfrm>
          <a:prstGeom prst="roundRect">
            <a:avLst>
              <a:gd name="adj" fmla="val 13333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782" y="4305300"/>
            <a:ext cx="24383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Suspiciously 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82" y="4495799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1000000, 10000000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18" y="4229100"/>
            <a:ext cx="2590735" cy="571500"/>
          </a:xfrm>
          <a:prstGeom prst="roundRect">
            <a:avLst>
              <a:gd name="adj" fmla="val 13333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2716" y="4305300"/>
            <a:ext cx="24383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Jokes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716" y="4495799"/>
            <a:ext cx="2438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69, 420, 666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4952999"/>
            <a:ext cx="525766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881" y="5067299"/>
            <a:ext cx="2638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Results: All prices validated/corrected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881" y="5334000"/>
            <a:ext cx="26383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40% missing conditions inferred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448163" y="5161084"/>
            <a:ext cx="304792" cy="26963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24441" y="1333500"/>
            <a:ext cx="54100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Price Scale Correction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1" y="1714500"/>
            <a:ext cx="5410064" cy="1181099"/>
          </a:xfrm>
          <a:prstGeom prst="roundRect">
            <a:avLst>
              <a:gd name="adj" fmla="val 645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739" y="1828800"/>
            <a:ext cx="51814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fix_price_scale(entered_price, estimated_price)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8739" y="20954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1135" y="2057400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0.001-0.01 ratio → ×1000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8739" y="2286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1135" y="2247899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0.01-0.1 ratio → ×100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8739" y="24764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1135" y="2438400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10-100 ratio → ÷100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38739" y="2667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1135" y="2628900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100-1000 ratio → ÷1000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1" y="2971800"/>
            <a:ext cx="2666933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639" y="3047999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Entered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639" y="3238500"/>
            <a:ext cx="25145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50.0 DZD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7573" y="2971800"/>
            <a:ext cx="2666933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3771" y="3047999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Corrected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771" y="3238500"/>
            <a:ext cx="25145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50,000 DZD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4441" y="3657600"/>
            <a:ext cx="2666933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639" y="3733799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Entered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639" y="3924299"/>
            <a:ext cx="25145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75,000,000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573" y="3657600"/>
            <a:ext cx="2666933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3771" y="3733799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Corrected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771" y="3924299"/>
            <a:ext cx="25145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75,000 DZD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441" y="4419600"/>
            <a:ext cx="54100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Condition Inference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24441" y="4800600"/>
            <a:ext cx="5410064" cy="990599"/>
          </a:xfrm>
          <a:prstGeom prst="roundRect">
            <a:avLst>
              <a:gd name="adj" fmla="val 7692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8739" y="4914900"/>
            <a:ext cx="518147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Score = RAM_Type_Score + CPU_Gen_Score + Hardware_Recency_Score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38739" y="5105400"/>
            <a:ext cx="1676358" cy="571500"/>
          </a:xfrm>
          <a:prstGeom prst="roundRect">
            <a:avLst>
              <a:gd name="adj" fmla="val 133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4937" y="518159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Score ≥ 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4937" y="53721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Never Used = 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1295" y="5105400"/>
            <a:ext cx="1676358" cy="571500"/>
          </a:xfrm>
          <a:prstGeom prst="roundRect">
            <a:avLst>
              <a:gd name="adj" fmla="val 1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7493" y="518159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Score ≥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7493" y="53721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Good = 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43851" y="5105400"/>
            <a:ext cx="1676358" cy="571500"/>
          </a:xfrm>
          <a:prstGeom prst="roundRect">
            <a:avLst>
              <a:gd name="adj" fmla="val 1333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20049" y="518159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Score &lt;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0049" y="537210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Average = 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24441" y="5867399"/>
            <a:ext cx="2666933" cy="457200"/>
          </a:xfrm>
          <a:prstGeom prst="roundRect">
            <a:avLst>
              <a:gd name="adj" fmla="val 16666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639" y="5943600"/>
            <a:ext cx="2514537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DDR5 + 12th Gen + 2024 → Score 8 → Never Used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67573" y="5867399"/>
            <a:ext cx="2666933" cy="457200"/>
          </a:xfrm>
          <a:prstGeom prst="roundRect">
            <a:avLst>
              <a:gd name="adj" fmla="val 16666"/>
            </a:avLst>
          </a:prstGeom>
          <a:solidFill>
            <a:srgbClr val="37DCF2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3771" y="5943600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DDR3 + 5th Gen + 2020 → Score 3 → Average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7148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Final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447800"/>
            <a:ext cx="5257668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1. CPU Generation Normalization (Unified 0-1 Scale)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095499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782" y="2228850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Intel 14th 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1685" y="21717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1.00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6518" y="2095499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716" y="2228850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Intel 12th 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619" y="21717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628900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782" y="2762249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Intel 8th 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685" y="2705099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6518" y="2628900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2716" y="2762249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Intel 3rd 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619" y="2705099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162299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782" y="3295650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AMD Ryzen 7000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685" y="32385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6518" y="3162299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716" y="3295650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AMD Ryzen 5000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619" y="32385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3695699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782" y="3829050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Apple 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1685" y="37719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76518" y="3695699"/>
            <a:ext cx="2590735" cy="4572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2716" y="3829050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Apple M1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619" y="3771900"/>
            <a:ext cx="55243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" y="4305300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3. Log Transformation of Price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4686300"/>
            <a:ext cx="2571685" cy="914400"/>
          </a:xfrm>
          <a:prstGeom prst="roundRect">
            <a:avLst>
              <a:gd name="adj" fmla="val 1666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881" y="4800600"/>
            <a:ext cx="23430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Raw Prices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1" y="4991100"/>
            <a:ext cx="23430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50K - 500K DZD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881" y="5334000"/>
            <a:ext cx="23430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10× range, right-skewed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5567" y="4686300"/>
            <a:ext cx="2571685" cy="914400"/>
          </a:xfrm>
          <a:prstGeom prst="roundRect">
            <a:avLst>
              <a:gd name="adj" fmla="val 1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9864" y="4800600"/>
            <a:ext cx="23430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Log Prices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9864" y="4991100"/>
            <a:ext cx="23430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10.82 - 13.12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9864" y="5334000"/>
            <a:ext cx="23430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Normalized distribution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84" y="5753099"/>
            <a:ext cx="5257668" cy="457200"/>
          </a:xfrm>
          <a:prstGeom prst="roundRect">
            <a:avLst>
              <a:gd name="adj" fmla="val 33333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931" y="5886450"/>
            <a:ext cx="49909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Reduces outlier impact, stabilizes variance for modeling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441" y="1123949"/>
            <a:ext cx="54100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2. Model Family Classification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4441" y="1504950"/>
            <a:ext cx="5410064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8739" y="167640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Entry (Code: 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10644" y="1619250"/>
            <a:ext cx="4095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8739" y="1962149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 &lt; 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719" y="1962149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GPU &lt; 4,000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4441" y="2305049"/>
            <a:ext cx="5410064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38739" y="2476499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Mid (Code: 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10644" y="2419349"/>
            <a:ext cx="4095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8739" y="2762249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 10K-25K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0719" y="276224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GPU 4K-18K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24441" y="3105149"/>
            <a:ext cx="5410064" cy="723900"/>
          </a:xfrm>
          <a:prstGeom prst="roundRect">
            <a:avLst>
              <a:gd name="adj" fmla="val 1052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8739" y="3276599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High-End (Code: 3)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43991" y="3219449"/>
            <a:ext cx="27621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8739" y="3562349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 ≥ 25,000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10244" y="3562349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GPU ≥ 18,000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4441" y="3981449"/>
            <a:ext cx="54100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4. Final Dataset Summary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24441" y="4362450"/>
            <a:ext cx="5410064" cy="533399"/>
          </a:xfrm>
          <a:prstGeom prst="roundRect">
            <a:avLst>
              <a:gd name="adj" fmla="val 2857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38739" y="4514850"/>
            <a:ext cx="23716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From 14 Raw → 15 Engineered Features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315417" y="4516315"/>
            <a:ext cx="304792" cy="225669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6324441" y="4972050"/>
            <a:ext cx="2666933" cy="533399"/>
          </a:xfrm>
          <a:prstGeom prst="roundRect">
            <a:avLst>
              <a:gd name="adj" fmla="val 1428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639" y="5048250"/>
            <a:ext cx="25145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price_preview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639" y="5276850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log-transformed target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67573" y="4972050"/>
            <a:ext cx="2666933" cy="533399"/>
          </a:xfrm>
          <a:prstGeom prst="roundRect">
            <a:avLst>
              <a:gd name="adj" fmla="val 1428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3771" y="5048250"/>
            <a:ext cx="25145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RAM_SIZE, SSD_SIZE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3771" y="5276850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GB numeric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24441" y="5581649"/>
            <a:ext cx="2666933" cy="533399"/>
          </a:xfrm>
          <a:prstGeom prst="roundRect">
            <a:avLst>
              <a:gd name="adj" fmla="val 1428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639" y="5657850"/>
            <a:ext cx="25145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RAM_TYPE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639" y="5886450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ordinal 0.5-4.2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67573" y="5581649"/>
            <a:ext cx="2666933" cy="533399"/>
          </a:xfrm>
          <a:prstGeom prst="roundRect">
            <a:avLst>
              <a:gd name="adj" fmla="val 1428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3771" y="5657850"/>
            <a:ext cx="25145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cores, cpu_mark, 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3771" y="5886450"/>
            <a:ext cx="25145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 metrics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24441" y="6191250"/>
            <a:ext cx="5410064" cy="342900"/>
          </a:xfrm>
          <a:prstGeom prst="roundRect">
            <a:avLst>
              <a:gd name="adj" fmla="val 22222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6287060"/>
            <a:ext cx="190495" cy="15127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667333" y="6286500"/>
            <a:ext cx="31526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Dropped: city, created_at, SCREEN_FREQUENCY, text columns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48626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Regression Model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428750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Model Comparison (Test Set Performance)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962149"/>
            <a:ext cx="5257668" cy="609600"/>
          </a:xfrm>
          <a:prstGeom prst="roundRect">
            <a:avLst>
              <a:gd name="adj" fmla="val 125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782" y="21526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7923" y="2038349"/>
            <a:ext cx="81912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0.8271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7923" y="2343150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9449" y="20574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41,231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9449" y="2324100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0955" y="20574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21,070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0955" y="2324100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MAE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524361" y="2158240"/>
            <a:ext cx="266693" cy="21741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584" y="2647949"/>
            <a:ext cx="5257668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82" y="283845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14" y="2724150"/>
            <a:ext cx="81912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0.8144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14" y="3028950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439" y="27432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42,714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0439" y="3009900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1945" y="27432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21,596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1945" y="3009900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MAE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3333749"/>
            <a:ext cx="5257668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782" y="352425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8914" y="3409950"/>
            <a:ext cx="81912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0.8088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8914" y="3714750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0439" y="34290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43,362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0439" y="369569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1945" y="34290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21,747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1945" y="369569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MAE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4019549"/>
            <a:ext cx="5257668" cy="609600"/>
          </a:xfrm>
          <a:prstGeom prst="roundRect">
            <a:avLst>
              <a:gd name="adj" fmla="val 12500"/>
            </a:avLst>
          </a:prstGeom>
          <a:solidFill>
            <a:srgbClr val="FF572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782" y="4210049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Ridge Regression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8914" y="4095749"/>
            <a:ext cx="81912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0.4801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8914" y="4400550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0439" y="41148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71,497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439" y="438149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RMSE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1945" y="41148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32,318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1945" y="438149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MAE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84" y="4705350"/>
            <a:ext cx="5257668" cy="609600"/>
          </a:xfrm>
          <a:prstGeom prst="roundRect">
            <a:avLst>
              <a:gd name="adj" fmla="val 12500"/>
            </a:avLst>
          </a:prstGeom>
          <a:solidFill>
            <a:srgbClr val="FF572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782" y="4895849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Lasso Regression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8914" y="4781549"/>
            <a:ext cx="81912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0.4806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8914" y="5086350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0439" y="48006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71,462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0439" y="506729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RMSE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1945" y="480060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32,337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71945" y="5067299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MAE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584" y="5467349"/>
            <a:ext cx="5257668" cy="761999"/>
          </a:xfrm>
          <a:prstGeom prst="roundRect">
            <a:avLst>
              <a:gd name="adj" fmla="val 2000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881" y="5581649"/>
            <a:ext cx="472428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Key Finding: Tree-based models achieved </a:t>
            </a: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72%</a:t>
            </a: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 improvement over linear models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48163" y="5766288"/>
            <a:ext cx="304792" cy="16412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324441" y="1409699"/>
            <a:ext cx="54100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Feature Selection (10 Key Features)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24441" y="1790700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639" y="1866899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4481" y="1885950"/>
            <a:ext cx="39813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cpu_mark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05832" y="1921808"/>
            <a:ext cx="190495" cy="156882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1921808"/>
            <a:ext cx="190495" cy="156882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1921808"/>
            <a:ext cx="190495" cy="15688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77318" y="1921808"/>
            <a:ext cx="190495" cy="15688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467813" y="1921808"/>
            <a:ext cx="190495" cy="15688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6324441" y="2286000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639" y="2362199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4481" y="2381250"/>
            <a:ext cx="39813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gpu_g3d_mark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05832" y="2417108"/>
            <a:ext cx="190495" cy="156882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2417108"/>
            <a:ext cx="190495" cy="156882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2417108"/>
            <a:ext cx="190495" cy="15688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77318" y="2417108"/>
            <a:ext cx="190495" cy="15688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467813" y="2417108"/>
            <a:ext cx="190495" cy="15688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6324441" y="2781300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639" y="2857500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4481" y="2876549"/>
            <a:ext cx="39813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RAM_SIZE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05832" y="2912408"/>
            <a:ext cx="190495" cy="15688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2912408"/>
            <a:ext cx="190495" cy="156882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2912408"/>
            <a:ext cx="190495" cy="156882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77318" y="2912408"/>
            <a:ext cx="190495" cy="15688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467813" y="2912408"/>
            <a:ext cx="190495" cy="15688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6324441" y="3276599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639" y="3352800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24481" y="3371850"/>
            <a:ext cx="39813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SSD_SIZE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05832" y="3407708"/>
            <a:ext cx="190495" cy="156882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3407708"/>
            <a:ext cx="190495" cy="156882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3407708"/>
            <a:ext cx="190495" cy="156882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77318" y="3407708"/>
            <a:ext cx="190495" cy="156882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467813" y="3407708"/>
            <a:ext cx="190495" cy="15688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6324441" y="3771900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00639" y="3848099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24481" y="3867149"/>
            <a:ext cx="39813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model_family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05832" y="3903008"/>
            <a:ext cx="190495" cy="156882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3903008"/>
            <a:ext cx="190495" cy="156882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86822" y="3903008"/>
            <a:ext cx="190495" cy="156882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77318" y="3903008"/>
            <a:ext cx="190495" cy="156882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467813" y="3903008"/>
            <a:ext cx="190495" cy="15688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6324441" y="4267199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639" y="4343400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6.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24481" y="4362450"/>
            <a:ext cx="49338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gpu_g2d_mark, gpu_tdp, tdp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324441" y="4762500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639" y="4838699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7.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24481" y="4857750"/>
            <a:ext cx="49338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SCREEN_RESOLUTION_ENC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24441" y="5257800"/>
            <a:ext cx="5410064" cy="4191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639" y="5334000"/>
            <a:ext cx="2095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4481" y="5353049"/>
            <a:ext cx="49338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spec_Etat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324441" y="5829300"/>
            <a:ext cx="5410064" cy="419100"/>
          </a:xfrm>
          <a:prstGeom prst="roundRect">
            <a:avLst>
              <a:gd name="adj" fmla="val 36363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5963210"/>
            <a:ext cx="190495" cy="151279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705432" y="5943600"/>
            <a:ext cx="34860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Dropped: match_score, HDD_SIZE (low importance / noise)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89151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Association Rules Mining -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904999"/>
            <a:ext cx="51814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324100"/>
            <a:ext cx="5181470" cy="1219200"/>
          </a:xfrm>
          <a:prstGeom prst="roundRect">
            <a:avLst>
              <a:gd name="adj" fmla="val 125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6024" y="2867660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2590799"/>
            <a:ext cx="304792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7268" y="2514600"/>
            <a:ext cx="43432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Discover frequent hardware configuration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268" y="3124200"/>
            <a:ext cx="43432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Identify rules that reveal how features co-occur in laptop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37719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4152899"/>
            <a:ext cx="2514537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80" y="4305300"/>
            <a:ext cx="220974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Apriori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0" y="4686300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Classic candidate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6518" y="4152899"/>
            <a:ext cx="2514537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8914" y="4305300"/>
            <a:ext cx="220974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FP-Growth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14" y="4686300"/>
            <a:ext cx="22097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Frequent pattern tree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5181599"/>
            <a:ext cx="5181470" cy="571500"/>
          </a:xfrm>
          <a:prstGeom prst="roundRect">
            <a:avLst>
              <a:gd name="adj" fmla="val 26666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5354292"/>
            <a:ext cx="266693" cy="2261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04872" y="5334000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Both produced identical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639" y="1638299"/>
            <a:ext cx="51814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639" y="2057400"/>
            <a:ext cx="5181470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36" y="2286000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min_support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3951" y="22098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639" y="2857500"/>
            <a:ext cx="5181470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36" y="3086100"/>
            <a:ext cx="10762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min_confidence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34406" y="3009900"/>
            <a:ext cx="61910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639" y="3771900"/>
            <a:ext cx="518147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Two Experiments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639" y="4229100"/>
            <a:ext cx="5181470" cy="838200"/>
          </a:xfrm>
          <a:prstGeom prst="roundRect">
            <a:avLst>
              <a:gd name="adj" fmla="val 1818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53036" y="4381499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6382" y="4438649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2235"/>
                </a:solidFill>
                <a:latin typeface="Source Code Pro"/>
                <a:rFonts ascii="Source Code Pro" hAnsi="Source Code Pro" eastAsia="Source Code Pro" cs="Source Code Pro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8323" y="4381499"/>
            <a:ext cx="43813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Tier-based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8323" y="4686300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High-level category associations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639" y="5181599"/>
            <a:ext cx="5181470" cy="838200"/>
          </a:xfrm>
          <a:prstGeom prst="roundRect">
            <a:avLst>
              <a:gd name="adj" fmla="val 1818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53036" y="5334000"/>
            <a:ext cx="380990" cy="380999"/>
          </a:xfrm>
          <a:prstGeom prst="roundRect">
            <a:avLst>
              <a:gd name="adj" fmla="val 49995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6382" y="5391150"/>
            <a:ext cx="1142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2235"/>
                </a:solidFill>
                <a:latin typeface="Source Code Pro"/>
                <a:rFonts ascii="Source Code Pro" hAnsi="Source Code Pro" eastAsia="Source Code Pro" cs="Source Code Pr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323" y="5334000"/>
            <a:ext cx="43813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Detailed CPU/GPU Families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323" y="5638799"/>
            <a:ext cx="43813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Granular hardware component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80007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Experiment 1 Results - Top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343150"/>
            <a:ext cx="6353016" cy="914400"/>
          </a:xfrm>
          <a:prstGeom prst="roundRect">
            <a:avLst>
              <a:gd name="adj" fmla="val 1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2533649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2762249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{QHD+, 13-14"} → {MacBook}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8599" y="2495550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8599" y="2686050"/>
            <a:ext cx="857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96.3%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4421" y="2495550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4421" y="268605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9.49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371850"/>
            <a:ext cx="6353016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1980" y="3562349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0" y="3790949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{LPDDR5} → {Integrated GPU, Mid-Range}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599" y="3524250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599" y="3714750"/>
            <a:ext cx="857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73.9%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4421" y="3524250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4421" y="371475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8.75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400550"/>
            <a:ext cx="6353016" cy="9144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980" y="4591050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4819650"/>
            <a:ext cx="42766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FMono-Regular"/>
                <a:rFonts ascii="SFMono-Regular" hAnsi="SFMono-Regular" eastAsia="SFMono-Regular" cs="SFMono-Regular"/>
              </a:rPr>
              <a:t>{Mid-CPU, 13-14"} → {Integrated GPU}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599" y="4552949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599" y="4743450"/>
            <a:ext cx="857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67.4%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4421" y="4552949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4421" y="4743450"/>
            <a:ext cx="68578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7.98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9789" y="1733550"/>
            <a:ext cx="4162320" cy="1571625"/>
          </a:xfrm>
          <a:prstGeom prst="roundRect">
            <a:avLst>
              <a:gd name="adj" fmla="val 9696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6700017" y="2453322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686482" y="2026854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43671" y="1962149"/>
            <a:ext cx="320984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3671" y="2343150"/>
            <a:ext cx="3209844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Apple dominates premium compact displays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19789" y="3457575"/>
            <a:ext cx="4162320" cy="2476499"/>
          </a:xfrm>
          <a:prstGeom prst="roundRect">
            <a:avLst>
              <a:gd name="adj" fmla="val 615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48383" y="3735456"/>
            <a:ext cx="266693" cy="1681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991275" y="3686175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Market 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8383" y="4105274"/>
            <a:ext cx="370513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520"/>
              </a:spcAft>
            </a:pPr>
            <a:r>
              <a:rPr sz="3588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383" y="4752974"/>
            <a:ext cx="37051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of QHD+ 13-14" laptops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48383" y="5133975"/>
            <a:ext cx="3705132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0779" y="5286375"/>
            <a:ext cx="34003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Are Apple MacBooks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914377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Experiment 2 Results - Apple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33550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Top Rules by Lift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152650"/>
            <a:ext cx="5257668" cy="876299"/>
          </a:xfrm>
          <a:prstGeom prst="roundRect">
            <a:avLst>
              <a:gd name="adj" fmla="val 1739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2476499"/>
            <a:ext cx="39242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All top rules are Apple/MacBook 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6182" y="2305049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Lift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6182" y="2495550"/>
            <a:ext cx="10286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14-15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143250"/>
            <a:ext cx="5257668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79" y="3333749"/>
            <a:ext cx="48766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600450"/>
            <a:ext cx="48766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FMono-Regular"/>
                <a:rFonts ascii="SFMono-Regular" hAnsi="SFMono-Regular" eastAsia="SFMono-Regular" cs="SFMono-Regular"/>
              </a:rPr>
              <a:t>{Apple_GPU, QHD+} → {MacBook, 1-4 cores}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79" y="3981449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4171950"/>
            <a:ext cx="10286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546" y="3981449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546" y="4171950"/>
            <a:ext cx="81912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14.9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972050"/>
            <a:ext cx="5257668" cy="952499"/>
          </a:xfrm>
          <a:prstGeom prst="roundRect">
            <a:avLst>
              <a:gd name="adj" fmla="val 16000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5240215"/>
            <a:ext cx="304792" cy="2256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9169" y="5162550"/>
            <a:ext cx="44480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169" y="5505450"/>
            <a:ext cx="44480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Apple's limited SKU strategy creates extremely consistent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1" y="1504950"/>
            <a:ext cx="5257668" cy="2705099"/>
          </a:xfrm>
          <a:prstGeom prst="roundRect">
            <a:avLst>
              <a:gd name="adj" fmla="val 563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53036" y="1767253"/>
            <a:ext cx="304792" cy="2373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72125" y="1733550"/>
            <a:ext cx="20573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Apple Ecosystem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24599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95927" y="2190749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Limited SKU Variety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5927" y="245745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Controlled hardware ecosystem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28936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95927" y="2838450"/>
            <a:ext cx="25050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Predictable Configurations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95927" y="3105149"/>
            <a:ext cx="25050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Standardized patterns across models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53036" y="35413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95927" y="3486150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High Confidence 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5927" y="3752849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Consistent spec combinations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4441" y="4400550"/>
            <a:ext cx="5257668" cy="1752599"/>
          </a:xfrm>
          <a:prstGeom prst="roundRect">
            <a:avLst>
              <a:gd name="adj" fmla="val 8695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514182" y="5210809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91135" y="4673111"/>
            <a:ext cx="304792" cy="2168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10224" y="4629150"/>
            <a:ext cx="20573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Windows Laptops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91135" y="5086350"/>
            <a:ext cx="4762380" cy="8382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43531" y="5298281"/>
            <a:ext cx="228594" cy="1857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86422" y="5238749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High Variability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422" y="5543550"/>
            <a:ext cx="22668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Prevents family-level associations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73150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Three Market Segments Discovered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76350"/>
            <a:ext cx="5257668" cy="1600200"/>
          </a:xfrm>
          <a:prstGeom prst="roundRect">
            <a:avLst>
              <a:gd name="adj" fmla="val 952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24476" y="2010410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76278" y="1710103"/>
            <a:ext cx="304792" cy="237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367" y="1676400"/>
            <a:ext cx="17811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Apple 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0459" y="1504950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Key Rule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459" y="1695449"/>
            <a:ext cx="103819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6278" y="2266950"/>
            <a:ext cx="1781130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674" y="2343150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13-14" QHD+ LPDDR5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1705" y="2266950"/>
            <a:ext cx="1323941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4101" y="2343150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Integrated 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028950"/>
            <a:ext cx="5257668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3464169"/>
            <a:ext cx="304792" cy="2344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3429000"/>
            <a:ext cx="24669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Business Ultrabook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459" y="3257550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Key Rule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459" y="3448049"/>
            <a:ext cx="103819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68%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179" y="4019549"/>
            <a:ext cx="2457388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575" y="4095749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13-14" FHD Integrated Mid-CPU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4781549"/>
            <a:ext cx="5257668" cy="1600200"/>
          </a:xfrm>
          <a:prstGeom prst="roundRect">
            <a:avLst>
              <a:gd name="adj" fmla="val 952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5240215"/>
            <a:ext cx="304792" cy="1875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7268" y="5181599"/>
            <a:ext cx="17811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Gaming Laptop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0459" y="5010149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Key Rule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459" y="5200650"/>
            <a:ext cx="103819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94%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179" y="5772150"/>
            <a:ext cx="2457388" cy="380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575" y="5848350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15.6" FHD Dedicated GPU 16GB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1" y="1543050"/>
            <a:ext cx="5257668" cy="1943100"/>
          </a:xfrm>
          <a:prstGeom prst="roundRect">
            <a:avLst>
              <a:gd name="adj" fmla="val 7843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53036" y="1795096"/>
            <a:ext cx="304792" cy="2579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72125" y="1771650"/>
            <a:ext cx="274313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Segment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036" y="2228850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Apple Premium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15257" y="2324100"/>
            <a:ext cx="1219169" cy="76200"/>
          </a:xfrm>
          <a:prstGeom prst="roundRect">
            <a:avLst>
              <a:gd name="adj" fmla="val 10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15257" y="2324100"/>
            <a:ext cx="1171545" cy="76200"/>
          </a:xfrm>
          <a:prstGeom prst="roundRect">
            <a:avLst>
              <a:gd name="adj" fmla="val 10000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10624" y="2228850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036" y="2609850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Gaming Laptop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5257" y="2705099"/>
            <a:ext cx="1219169" cy="76200"/>
          </a:xfrm>
          <a:prstGeom prst="roundRect">
            <a:avLst>
              <a:gd name="adj" fmla="val 10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15257" y="2705099"/>
            <a:ext cx="1142971" cy="76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10624" y="2609850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94%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3036" y="2990849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Business Ultrabook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5257" y="3086100"/>
            <a:ext cx="1219169" cy="76200"/>
          </a:xfrm>
          <a:prstGeom prst="roundRect">
            <a:avLst>
              <a:gd name="adj" fmla="val 100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15257" y="3086100"/>
            <a:ext cx="828654" cy="762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10624" y="2990849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68%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4441" y="3638550"/>
            <a:ext cx="5257668" cy="1457325"/>
          </a:xfrm>
          <a:prstGeom prst="roundRect">
            <a:avLst>
              <a:gd name="adj" fmla="val 10457"/>
            </a:avLst>
          </a:prstGeom>
          <a:solidFill>
            <a:srgbClr val="FF572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661819" y="4301172"/>
            <a:ext cx="1457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3928696"/>
            <a:ext cx="304792" cy="2579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10224" y="3867149"/>
            <a:ext cx="43432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Market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10224" y="4248150"/>
            <a:ext cx="4343291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Apple's limited SKU strategy creates distinct market segments with highly predictable configurations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24441" y="5248275"/>
            <a:ext cx="1676358" cy="876299"/>
          </a:xfrm>
          <a:prstGeom prst="roundRect">
            <a:avLst>
              <a:gd name="adj" fmla="val 1739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6838" y="5400675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Premium Segment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838" y="5629275"/>
            <a:ext cx="137156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13-14"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5097" y="5248275"/>
            <a:ext cx="1676358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67493" y="5400675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Most Common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7493" y="5629275"/>
            <a:ext cx="137156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15.6"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05752" y="5248275"/>
            <a:ext cx="1676358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148" y="5400675"/>
            <a:ext cx="13715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Compact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148" y="5629275"/>
            <a:ext cx="137156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FHD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0"/>
            <a:ext cx="27431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71550"/>
            <a:ext cx="5371965" cy="2743200"/>
          </a:xfrm>
          <a:prstGeom prst="roundRect">
            <a:avLst>
              <a:gd name="adj" fmla="val 5555"/>
            </a:avLst>
          </a:prstGeom>
          <a:solidFill>
            <a:srgbClr val="37DCF2">
              <a:alpha val="1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95728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17" y="1219200"/>
            <a:ext cx="26097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Apple's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4417" y="1638299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Enables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4417" y="1904999"/>
            <a:ext cx="26097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417" y="2514600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confidence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228" y="2895600"/>
            <a:ext cx="4876678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9624" y="3047999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Limited SKU strategy creates competitive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971550"/>
            <a:ext cx="5371965" cy="2743200"/>
          </a:xfrm>
          <a:prstGeom prst="roundRect">
            <a:avLst>
              <a:gd name="adj" fmla="val 5555"/>
            </a:avLst>
          </a:prstGeom>
          <a:solidFill>
            <a:srgbClr val="FF5722">
              <a:alpha val="10000"/>
            </a:srgbClr>
          </a:solidFill>
          <a:ln w="1651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57788" y="1307552"/>
            <a:ext cx="342891" cy="2423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4977" y="1219200"/>
            <a:ext cx="216212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Windows Variety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4977" y="1657350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Requires tier-level analysis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810404" y="1675985"/>
            <a:ext cx="266693" cy="1913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57788" y="2057400"/>
            <a:ext cx="4876678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0184" y="2209800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High variability prevents family-level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4019549"/>
            <a:ext cx="10972525" cy="3667124"/>
          </a:xfrm>
          <a:prstGeom prst="roundRect">
            <a:avLst>
              <a:gd name="adj" fmla="val 415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-1157938" y="5787071"/>
            <a:ext cx="3667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4413051"/>
            <a:ext cx="380990" cy="2797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85862" y="4324349"/>
            <a:ext cx="979145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Feature Engineering Lesson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5862" y="4743450"/>
            <a:ext cx="979145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Granularity critically impacts pattern discovery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85862" y="5200650"/>
            <a:ext cx="9791455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38259" y="5353049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Detailed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259" y="5581649"/>
            <a:ext cx="102867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Apple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781230" y="5574506"/>
            <a:ext cx="266693" cy="1666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62220" y="5353049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Tier-Based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62220" y="5581649"/>
            <a:ext cx="143823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Windows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476" y="6343650"/>
            <a:ext cx="3343191" cy="1028700"/>
          </a:xfrm>
          <a:prstGeom prst="roundRect">
            <a:avLst>
              <a:gd name="adj" fmla="val 14814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2466913" y="6557596"/>
            <a:ext cx="304792" cy="2579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2971" y="6915150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High Confidence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8063" y="6343650"/>
            <a:ext cx="3343191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962500" y="6557596"/>
            <a:ext cx="304792" cy="2579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38559" y="6915150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Clear Segments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34126" y="6343650"/>
            <a:ext cx="3343191" cy="1028700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458088" y="6569319"/>
            <a:ext cx="304792" cy="23446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24621" y="6915150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Granular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594345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Key Insights &amp; Discoveries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828800"/>
            <a:ext cx="3124121" cy="1181099"/>
          </a:xfrm>
          <a:prstGeom prst="roundRect">
            <a:avLst>
              <a:gd name="adj" fmla="val 645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3881" y="19431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52" y="1962149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CPU Benchmark &gt; 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881" y="2286000"/>
            <a:ext cx="5048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cpu_mark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1" y="2438400"/>
            <a:ext cx="5048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2991" y="22860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cpu_gen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2991" y="2438400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881" y="2743200"/>
            <a:ext cx="28955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Market values actual power over "newest" label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8003" y="1828800"/>
            <a:ext cx="3124121" cy="1181099"/>
          </a:xfrm>
          <a:prstGeom prst="roundRect">
            <a:avLst>
              <a:gd name="adj" fmla="val 645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2300" y="19431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746" y="1962149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HDD Death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300" y="2286000"/>
            <a:ext cx="3047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300" y="2438400"/>
            <a:ext cx="3047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35%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333866" y="2442322"/>
            <a:ext cx="190495" cy="1064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91135" y="2286000"/>
            <a:ext cx="2571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135" y="2438400"/>
            <a:ext cx="2571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2300" y="2743200"/>
            <a:ext cx="28955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SSD premium: </a:t>
            </a:r>
            <a:r>
              <a:rPr sz="71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+35%</a:t>
            </a: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over HDD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124200"/>
            <a:ext cx="3124121" cy="1409699"/>
          </a:xfrm>
          <a:prstGeom prst="roundRect">
            <a:avLst>
              <a:gd name="adj" fmla="val 540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881" y="32385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52" y="3257550"/>
            <a:ext cx="9715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GPU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81" y="3581400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gpu_g3d_mark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81" y="3733799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1" y="4038599"/>
            <a:ext cx="5429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RTX 3060+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81" y="4190999"/>
            <a:ext cx="5429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+40%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2991" y="4038599"/>
            <a:ext cx="4952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GTX 1650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991" y="4190999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+25%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4477" y="403859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Integrated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4477" y="4190999"/>
            <a:ext cx="7334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8003" y="3124200"/>
            <a:ext cx="3124121" cy="1409699"/>
          </a:xfrm>
          <a:prstGeom prst="roundRect">
            <a:avLst>
              <a:gd name="adj" fmla="val 5405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300" y="32385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746" y="3257550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Linear Models 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2300" y="35814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Linear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2300" y="37337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0.47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495687" y="3720913"/>
            <a:ext cx="190495" cy="14007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62380" y="35814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XGBoost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380" y="37337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0.83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2300" y="4038599"/>
            <a:ext cx="28955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Price relationships are multiplicative, not additive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9584" y="4648200"/>
            <a:ext cx="3124121" cy="1181099"/>
          </a:xfrm>
          <a:prstGeom prst="roundRect">
            <a:avLst>
              <a:gd name="adj" fmla="val 645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3881" y="47625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852" y="4781549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Condition Skepticism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881" y="5105400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Expected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881" y="5257800"/>
            <a:ext cx="8000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5722"/>
                </a:solidFill>
                <a:latin typeface="Source Code Pro"/>
                <a:rFonts ascii="Source Code Pro" hAnsi="Source Code Pro" eastAsia="Source Code Pro" cs="Source Code Pro"/>
              </a:rPr>
              <a:t>+25-30%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600159" y="5244913"/>
            <a:ext cx="190495" cy="14007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866853" y="510540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Actual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66853" y="5257800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+12%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881" y="5562600"/>
            <a:ext cx="28955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Buyers distrust "Never Used" claims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8003" y="4648200"/>
            <a:ext cx="3124121" cy="1181099"/>
          </a:xfrm>
          <a:prstGeom prst="roundRect">
            <a:avLst>
              <a:gd name="adj" fmla="val 6451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62300" y="47625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33746" y="4781549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Residual Analysis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62300" y="5192661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171845" y="5105400"/>
            <a:ext cx="61910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Centered around zero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905252" y="5192661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114797" y="5105400"/>
            <a:ext cx="43813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Random scatter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57708" y="5195426"/>
            <a:ext cx="171445" cy="14379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67253" y="5105400"/>
            <a:ext cx="981050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Heteroscedasticity at high prices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19789" y="1904999"/>
            <a:ext cx="4162320" cy="1676400"/>
          </a:xfrm>
          <a:prstGeom prst="roundRect">
            <a:avLst>
              <a:gd name="adj" fmla="val 9090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72185" y="2057400"/>
            <a:ext cx="38575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Key Takeaways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572185" y="2518522"/>
            <a:ext cx="190495" cy="10645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838879" y="2438400"/>
            <a:ext cx="33050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GPU performance nearly as important as CPU for pricing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72185" y="2800910"/>
            <a:ext cx="190495" cy="15127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838879" y="2743200"/>
            <a:ext cx="3590835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Tree-based models capture complex non-linear price patterns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72185" y="3258110"/>
            <a:ext cx="190495" cy="151279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838879" y="3200400"/>
            <a:ext cx="24192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SSD dominance continues (92% in 2025)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19789" y="3733799"/>
            <a:ext cx="2019249" cy="800100"/>
          </a:xfrm>
          <a:prstGeom prst="roundRect">
            <a:avLst>
              <a:gd name="adj" fmla="val 19047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34086" y="3848099"/>
            <a:ext cx="179065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34086" y="42291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Major Discoveries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562860" y="3733799"/>
            <a:ext cx="2019249" cy="800100"/>
          </a:xfrm>
          <a:prstGeom prst="roundRect">
            <a:avLst>
              <a:gd name="adj" fmla="val 19047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77158" y="3848099"/>
            <a:ext cx="179065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77158" y="42291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Variance Explained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19789" y="4686300"/>
            <a:ext cx="4162320" cy="1066799"/>
          </a:xfrm>
          <a:prstGeom prst="roundRect">
            <a:avLst>
              <a:gd name="adj" fmla="val 14285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91235" y="4905375"/>
            <a:ext cx="228594" cy="1714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896027" y="48577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Model Validity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91235" y="5200650"/>
            <a:ext cx="3819429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High-end laptops (&gt;200K DZD) have harder-to-predict prices due to premium features not captured by specs alone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14300"/>
            <a:ext cx="64006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Web Application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924049"/>
            <a:ext cx="5257668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Deployed Solution: Price Predictor + Recommender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724150"/>
            <a:ext cx="525766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3881" y="28384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654" y="28575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2235"/>
                </a:solidFill>
                <a:latin typeface="Source Code Pro"/>
                <a:rFonts ascii="Source Code Pro" hAnsi="Source Code Pro" eastAsia="Source Code Pro" cs="Source Code Pr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71" y="2838450"/>
            <a:ext cx="46099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3105149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Select: CPU, GPU, RAM, Storage, Screen, Condition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524250"/>
            <a:ext cx="525766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3881" y="3638550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654" y="36576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2235"/>
                </a:solidFill>
                <a:latin typeface="Source Code Pro"/>
                <a:rFonts ascii="Source Code Pro" hAnsi="Source Code Pro" eastAsia="Source Code Pro" cs="Source Code Pr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638550"/>
            <a:ext cx="46099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Backend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2971" y="3905249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Feature Engineering • XGBoost Model (R²=0.83) • Similarity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324349"/>
            <a:ext cx="5257668" cy="685800"/>
          </a:xfrm>
          <a:prstGeom prst="roundRect">
            <a:avLst>
              <a:gd name="adj" fmla="val 22222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3881" y="4438649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654" y="4457700"/>
            <a:ext cx="1047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2235"/>
                </a:solidFill>
                <a:latin typeface="Source Code Pro"/>
                <a:rFonts ascii="Source Code Pro" hAnsi="Source Code Pro" eastAsia="Source Code Pro" cs="Source Code Pr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2971" y="4438649"/>
            <a:ext cx="46099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Output 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2971" y="4705350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Predicted Price ±15,000 • Similar Laptops from Ouedkniss &amp; Amazon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1" y="1657350"/>
            <a:ext cx="5257668" cy="1943100"/>
          </a:xfrm>
          <a:prstGeom prst="roundRect">
            <a:avLst>
              <a:gd name="adj" fmla="val 784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6838" y="1809749"/>
            <a:ext cx="49528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196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Project Impact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220475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43531" y="2190749"/>
            <a:ext cx="31145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Data transformation: 15K → clean 15-feature dataset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2471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43531" y="2457450"/>
            <a:ext cx="23240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Missing data: 30%+ → </a:t>
            </a:r>
            <a:r>
              <a:rPr sz="83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97.8%</a:t>
            </a: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retention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2738157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43531" y="2724150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Prediction accuracy: </a:t>
            </a:r>
            <a:r>
              <a:rPr sz="83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83%</a:t>
            </a: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R²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30048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43531" y="2990849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Real-world error: ±</a:t>
            </a:r>
            <a:r>
              <a:rPr sz="837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21,000</a:t>
            </a: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 DZD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476838" y="32715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43531" y="3257550"/>
            <a:ext cx="23430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Market intelligence: 6 major discoveries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4441" y="3752849"/>
            <a:ext cx="2571685" cy="800100"/>
          </a:xfrm>
          <a:prstGeom prst="roundRect">
            <a:avLst>
              <a:gd name="adj" fmla="val 19047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739" y="3867149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739" y="4248150"/>
            <a:ext cx="23430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Data Mining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0424" y="3752849"/>
            <a:ext cx="2571685" cy="800100"/>
          </a:xfrm>
          <a:prstGeom prst="roundRect">
            <a:avLst>
              <a:gd name="adj" fmla="val 19047"/>
            </a:avLst>
          </a:prstGeom>
          <a:solidFill>
            <a:srgbClr val="37DCF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4721" y="3867149"/>
            <a:ext cx="23430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794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4721" y="4248150"/>
            <a:ext cx="23430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Modeling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4441" y="4705350"/>
            <a:ext cx="5257668" cy="571500"/>
          </a:xfrm>
          <a:prstGeom prst="roundRect">
            <a:avLst>
              <a:gd name="adj" fmla="val 26666"/>
            </a:avLst>
          </a:prstGeom>
          <a:solidFill>
            <a:srgbClr val="37DCF2">
              <a:alpha val="5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7788" y="4876800"/>
            <a:ext cx="45147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Key Takeaway: Clean data enabled ALL insights and discoveries!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4862146"/>
            <a:ext cx="304792" cy="257907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09584" y="6398894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4377" y="6324599"/>
            <a:ext cx="23907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B8B8B8"/>
                </a:solidFill>
                <a:latin typeface="Roboto Flex"/>
                <a:rFonts ascii="Roboto Flex" hAnsi="Roboto Flex" eastAsia="Roboto Flex" cs="Roboto Flex"/>
              </a:rPr>
              <a:t>Future Directions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77" y="6477000"/>
            <a:ext cx="23907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Roboto Flex"/>
                <a:rFonts ascii="Roboto Flex" hAnsi="Roboto Flex" eastAsia="Roboto Flex" cs="Roboto Flex"/>
              </a:rPr>
              <a:t>Time-series • Expansion • Review Mining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1770" y="6305550"/>
            <a:ext cx="20573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37DCF2"/>
                </a:solidFill>
                <a:latin typeface="Source Code Pro"/>
                <a:rFonts ascii="Source Code Pro" hAnsi="Source Code Pro" eastAsia="Source Code Pro" cs="Source Code Pro"/>
              </a:rPr>
              <a:t>Thank You!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91515" y="6286500"/>
            <a:ext cx="1190595" cy="419100"/>
          </a:xfrm>
          <a:prstGeom prst="roundRect">
            <a:avLst>
              <a:gd name="adj" fmla="val 18181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3911" y="6362700"/>
            <a:ext cx="8858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